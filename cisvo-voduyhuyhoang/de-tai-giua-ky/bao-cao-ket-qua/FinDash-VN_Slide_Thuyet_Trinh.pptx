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Clx1BKjOJqWWyNdsphJp45qpv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Calibri"/>
              </a:rPr>
              <a:t>Efficient Frontier (minh hoạ)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Đường biên hiệu quả</c:v>
                </c:pt>
              </c:strCache>
            </c:strRef>
          </c:tx>
          <c:spPr>
            <a:solidFill>
              <a:srgbClr val="D4AF37"/>
            </a:solidFill>
            <a:ln w="31750" cap="flat">
              <a:solidFill>
                <a:srgbClr val="D4AF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F37"/>
              </a:solidFill>
              <a:ln w="9525" cap="flat">
                <a:solidFill>
                  <a:srgbClr val="D4AF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8%</c:v>
                  </c:pt>
                  <c:pt idx="1">
                    <c:v>10%</c:v>
                  </c:pt>
                  <c:pt idx="2">
                    <c:v>12%</c:v>
                  </c:pt>
                  <c:pt idx="3">
                    <c:v>14%</c:v>
                  </c:pt>
                  <c:pt idx="4">
                    <c:v>16%</c:v>
                  </c:pt>
                  <c:pt idx="5">
                    <c:v>18%</c:v>
                  </c:pt>
                  <c:pt idx="6">
                    <c:v>20%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6.2</c:v>
                </c:pt>
                <c:pt idx="1">
                  <c:v>7</c:v>
                </c:pt>
                <c:pt idx="2">
                  <c:v>8.3</c:v>
                </c:pt>
                <c:pt idx="3">
                  <c:v>10.1</c:v>
                </c:pt>
                <c:pt idx="4">
                  <c:v>12.6</c:v>
                </c:pt>
                <c:pt idx="5">
                  <c:v>15.8</c:v>
                </c:pt>
                <c:pt idx="6">
                  <c:v>19.5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F5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9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A3F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3F5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EB9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83E"/>
        </a:solidFill>
        <a:ln>
          <a:noFill/>
        </a:ln>
        <a:effectLst/>
      </c:spPr>
    </c:plotArea>
    <c:plotVisOnly val="1"/>
    <c:dispBlanksAs val="span"/>
  </c:chart>
  <c:spPr>
    <a:solidFill>
      <a:srgbClr val="1628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Trang bìa. Lưu ý: tên sinh viên và tên học phần được suy đoán từ ngữ cảnh cuộc trò chuyện (URL deploy 'voduyhuyhoang' và hồ sơ môn học Digital Investment and Marketing) — cần xác nhận lại trước khi nộp.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kết thúc — nhắc trình bày demo trực tiếp nếu còn thời gian, và mời câu hỏi.</a:t>
            </a:r>
            <a:endParaRPr/>
          </a:p>
        </p:txBody>
      </p:sp>
      <p:sp>
        <p:nvSpPr>
          <p:cNvPr id="353" name="Google Shape;35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" y="493776"/>
            <a:ext cx="146304" cy="32918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68680" y="548640"/>
            <a:ext cx="146304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51560" y="603504"/>
            <a:ext cx="146304" cy="21945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234440" y="676656"/>
            <a:ext cx="146304" cy="14630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508760" y="4572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FinDash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508760" y="822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VN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Times New Roman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FinDash-VN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22960" y="33375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Dashboard Thông Tin Đầu Tư Có Hỗ Trợ Chatbot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Cổ phiếu thế giới · Cổ phiếu Việt Nam · Tiền điện tử  —  CAPM · APT · Monte Carlo Simulation  —  Trợ lý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822960" y="4846320"/>
            <a:ext cx="3840480" cy="0"/>
          </a:xfrm>
          <a:prstGeom prst="straightConnector1">
            <a:avLst/>
          </a:prstGeom>
          <a:noFill/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/>
          <p:nvPr/>
        </p:nvSpPr>
        <p:spPr>
          <a:xfrm>
            <a:off x="822960" y="5074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Sinh viên thực hiện: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Võ Duy Huy Hoàng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22960" y="539496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Học phần: 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Phân tích và quản lý đầu tư nâng cao (Advanced Investment analysis and management)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822960" y="57150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Demo trực tuyến: </a:t>
            </a:r>
            <a:r>
              <a:rPr b="1" i="0" lang="en-US" sz="13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voduyhuyhoang.streamlit.app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BỐI CẢNH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 tiêu &amp; Yêu cầu đề bài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Đề bài: “Xây dựng dashboard thông tin đầu tư có hỗ trợ Chatbot”, dựa trên code mẫu FinDash do giảng viên cung cấp (Streamlit + yfinance).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5B9BD5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234440" y="1847088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234440" y="2121408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Tóm tắt giá, thống kê nhanh theo từng mã đã chọn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00800" y="1874520"/>
            <a:ext cx="502920" cy="502920"/>
          </a:xfrm>
          <a:prstGeom prst="ellipse">
            <a:avLst/>
          </a:prstGeom>
          <a:solidFill>
            <a:srgbClr val="3FB68B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400800" y="1874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086600" y="1847088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086600" y="2121408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Biến động giá &amp; khối lượng — sampling ngày/tuần/tháng, Line/Candlestick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234440" y="3264408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Thống kê &amp; Phân tích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234440" y="3538728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Báo cáo tài chính, ước tính từ giới phân tích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400800" y="3291840"/>
            <a:ext cx="502920" cy="502920"/>
          </a:xfrm>
          <a:prstGeom prst="ellipse">
            <a:avLst/>
          </a:prstGeom>
          <a:solidFill>
            <a:srgbClr val="5B9BD5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6400800" y="3291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📐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086600" y="3264408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CAPM &amp; APT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086600" y="3538728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Mô hình định giá tài sản vốn &amp; đa nhân tố cho danh mục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3FB68B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🎲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234440" y="4681728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Monte Carlo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234440" y="4956048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Mô phỏng rủi ro danh mục, Value at Risk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400800" y="4709160"/>
            <a:ext cx="502920" cy="502920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400800" y="4709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086600" y="4681728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Chatbot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7086600" y="4956048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Trợ lý AI hỗ trợ giải đáp, phân tích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THIẾT KẾ HỆ THỐNG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Kiến trúc tổng quan — 4 trang liên kết nhau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22960" y="1737360"/>
            <a:ext cx="1920240" cy="2103120"/>
          </a:xfrm>
          <a:prstGeom prst="roundRect">
            <a:avLst>
              <a:gd fmla="val 3810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914400" y="19202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🏠 Trang chủ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60120" y="260604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Tổng quan danh mục,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đề xuất AI, tin tức,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giá Top 10 real-time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977640" y="1737360"/>
            <a:ext cx="1920240" cy="2103120"/>
          </a:xfrm>
          <a:prstGeom prst="roundRect">
            <a:avLst>
              <a:gd fmla="val 3810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069080" y="19202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📈 Đánh Giá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Tài Sản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114800" y="260604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Summary, Chart, Backtest,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Định giá, Tin tức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132320" y="1737360"/>
            <a:ext cx="1920240" cy="2103120"/>
          </a:xfrm>
          <a:prstGeom prst="roundRect">
            <a:avLst>
              <a:gd fmla="val 3810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7223760" y="19202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💼 Danh mục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đầu tư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269480" y="260604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CAPM, APT, Tối ưu hoá,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Monte Carlo Simulation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0104120" y="1737360"/>
            <a:ext cx="1920240" cy="2103120"/>
          </a:xfrm>
          <a:prstGeom prst="roundRect">
            <a:avLst>
              <a:gd fmla="val 3810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10195560" y="19202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💬 Chatbot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0241280" y="260604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Trợ lý AI 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ngữ cảnh tự động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3"/>
          <p:cNvCxnSpPr/>
          <p:nvPr/>
        </p:nvCxnSpPr>
        <p:spPr>
          <a:xfrm>
            <a:off x="2743200" y="2788920"/>
            <a:ext cx="1234440" cy="0"/>
          </a:xfrm>
          <a:prstGeom prst="straightConnector1">
            <a:avLst/>
          </a:prstGeom>
          <a:noFill/>
          <a:ln cap="flat" cmpd="sng" w="19050">
            <a:solidFill>
              <a:srgbClr val="D4AF37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3" name="Google Shape;83;p3"/>
          <p:cNvCxnSpPr/>
          <p:nvPr/>
        </p:nvCxnSpPr>
        <p:spPr>
          <a:xfrm>
            <a:off x="5897880" y="2788920"/>
            <a:ext cx="1234440" cy="0"/>
          </a:xfrm>
          <a:prstGeom prst="straightConnector1">
            <a:avLst/>
          </a:prstGeom>
          <a:noFill/>
          <a:ln cap="flat" cmpd="sng" w="19050">
            <a:solidFill>
              <a:srgbClr val="D4AF37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4" name="Google Shape;84;p3"/>
          <p:cNvCxnSpPr/>
          <p:nvPr/>
        </p:nvCxnSpPr>
        <p:spPr>
          <a:xfrm>
            <a:off x="9052560" y="2788920"/>
            <a:ext cx="1051560" cy="0"/>
          </a:xfrm>
          <a:prstGeom prst="straightConnector1">
            <a:avLst/>
          </a:prstGeom>
          <a:noFill/>
          <a:ln cap="flat" cmpd="sng" w="19050">
            <a:solidFill>
              <a:srgbClr val="D4AF37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5" name="Google Shape;85;p3"/>
          <p:cNvSpPr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Ví dụ liên kết thật trong app: nút “+ Thêm vào danh mục” và “💬 Hỏi Chatbot” ở Đánh Giá Tài Sản dùng st.switch_page() để chuyển trang kèm theo ngữ cảnh (mã đang xem, số liệu vừa phân tích).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22960" y="5029200"/>
            <a:ext cx="10424160" cy="1234440"/>
          </a:xfrm>
          <a:prstGeom prst="roundRect">
            <a:avLst>
              <a:gd fmla="val 5926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1051560" y="51663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 nghệ điều hướng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051560" y="5440680"/>
            <a:ext cx="9966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st.navigation() / st.Page() (multipage app chính thức của Streamlit) — mỗi trang có URL riêng, và st.session_state lưu ngữ cảnh (mã đang xem, danh mục vừa phân tích) để các trang chia sẻ dữ liệu với nhau.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PHẠM VI DỮ LIỆU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Đa dạng tài sản hỗ trợ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48640" y="1371600"/>
            <a:ext cx="3520440" cy="4206240"/>
          </a:xfrm>
          <a:prstGeom prst="roundRect">
            <a:avLst>
              <a:gd fmla="val 2078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0"/>
              <a:buFont typeface="Calibri"/>
              <a:buNone/>
            </a:pPr>
            <a:r>
              <a:rPr b="0" i="0" lang="en-US" sz="19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🌍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22960" y="242316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Cổ phiếu Thế giới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22960" y="278892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9BD5"/>
                </a:solidFill>
                <a:latin typeface="Calibri"/>
                <a:ea typeface="Calibri"/>
                <a:cs typeface="Calibri"/>
                <a:sym typeface="Calibri"/>
              </a:rPr>
              <a:t>Nguồn dữ liệu: yfinance (Yahoo Finance)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22960" y="3246120"/>
            <a:ext cx="2971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Danh sách S&amp;P 500 (scrape Wikipedia, fallback shortlist)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Giá, khối lượng, báo cáo tài chính, chỉ số cơ bản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VD: AAPL, MSFT, NVDA, GOOGL...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389120" y="1371600"/>
            <a:ext cx="3520440" cy="4206240"/>
          </a:xfrm>
          <a:prstGeom prst="roundRect">
            <a:avLst>
              <a:gd fmla="val 2078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663440" y="1645920"/>
            <a:ext cx="640080" cy="640080"/>
          </a:xfrm>
          <a:prstGeom prst="ellipse">
            <a:avLst/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663440" y="1645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0"/>
              <a:buFont typeface="Calibri"/>
              <a:buNone/>
            </a:pPr>
            <a:r>
              <a:rPr b="0" i="0" lang="en-US" sz="19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🇻🇳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663440" y="242316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Cổ phiếu Việt Nam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663440" y="278892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8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3FB68B"/>
                </a:solidFill>
                <a:latin typeface="Calibri"/>
                <a:ea typeface="Calibri"/>
                <a:cs typeface="Calibri"/>
                <a:sym typeface="Calibri"/>
              </a:rPr>
              <a:t>Nguồn dữ liệu: vnstock v4 (VCI/KBS)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663440" y="3246120"/>
            <a:ext cx="2971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Danh sách HOSE/HNX/UPCOM qua Listing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Giá, báo cáo tài chính, bảng giá (price board)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VD: VNM, VCB, VIC, FPT, HPG...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8229600" y="1371600"/>
            <a:ext cx="3520440" cy="4206240"/>
          </a:xfrm>
          <a:prstGeom prst="roundRect">
            <a:avLst>
              <a:gd fmla="val 2078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8503920" y="1645920"/>
            <a:ext cx="640080" cy="640080"/>
          </a:xfrm>
          <a:prstGeom prst="ellipse">
            <a:avLst/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8503920" y="1645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0"/>
              <a:buFont typeface="Calibri"/>
              <a:buNone/>
            </a:pPr>
            <a:r>
              <a:rPr b="0" i="0" lang="en-US" sz="19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🪙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503920" y="242316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Tiền điện tử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8503920" y="278892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Nguồn dữ liệu: yfinance (mã dạng XXX-USD)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503920" y="3246120"/>
            <a:ext cx="2971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12 đồng phổ biến nhất theo vốn hoá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Giá, biến động, không có báo cáo tài chính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VD: BTC-USD, ETH-USD, SOL-USD...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TÍNH NĂNG CHÍNH · 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Đánh Giá Tài Sản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48640" y="114300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Ảnh chụp thật từ ứng dụng đang chạy (voduyhuyhoang.streamlit.app) — mã AAPL, dữ liệu thời gian thực.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48640" y="17373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50"/>
              <a:buFont typeface="Times New Roman"/>
              <a:buNone/>
            </a:pPr>
            <a:r>
              <a:rPr b="1" i="0" lang="en-US" sz="13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📋  Summary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48640" y="20116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Tóm tắt giá, PE, Beta, Market Cap + biểu đồ giá 1 năm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48640" y="23957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50"/>
              <a:buFont typeface="Times New Roman"/>
              <a:buNone/>
            </a:pPr>
            <a:r>
              <a:rPr b="1" i="0" lang="en-US" sz="13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📈  Chart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48640" y="2670048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Line/Candlestick, sampling ngày/tuần/tháng, RSI/MACD/Bollinger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48640" y="305409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50"/>
              <a:buFont typeface="Times New Roman"/>
              <a:buNone/>
            </a:pPr>
            <a:r>
              <a:rPr b="1" i="0" lang="en-US" sz="13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📊  Thống kê &amp; Tài chính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48640" y="3328416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Báo cáo tài chính đầy đủ theo năm/quý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48640" y="371246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50"/>
              <a:buFont typeface="Times New Roman"/>
              <a:buNone/>
            </a:pPr>
            <a:r>
              <a:rPr b="1" i="0" lang="en-US" sz="13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🧪  Backtest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48640" y="3986784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SMA Crossover so với Mua &amp; Giữ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48640" y="437083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50"/>
              <a:buFont typeface="Times New Roman"/>
              <a:buNone/>
            </a:pPr>
            <a:r>
              <a:rPr b="1" i="0" lang="en-US" sz="13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💰  Định giá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48640" y="4645152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Graham Number, DCF 2 giai đoạn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48640" y="50292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50"/>
              <a:buFont typeface="Times New Roman"/>
              <a:buNone/>
            </a:pPr>
            <a:r>
              <a:rPr b="1" i="0" lang="en-US" sz="135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📰  Tin tức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48640" y="53035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Tin mới nhất + AI tóm tắt tác động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7360920" y="1143000"/>
            <a:ext cx="4343400" cy="3337560"/>
          </a:xfrm>
          <a:prstGeom prst="roundRect">
            <a:avLst>
              <a:gd fmla="val 2192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lides_build/screenshot_asset_page.png" id="139" name="Google Shape;1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9792" y="1261872"/>
            <a:ext cx="4105656" cy="2596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7479792" y="3913632"/>
            <a:ext cx="41056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Ảnh chụp thật — trang Đánh Giá Tài Sản (Summary, mã AAPL)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7360920" y="4709160"/>
            <a:ext cx="4343400" cy="1783080"/>
          </a:xfrm>
          <a:prstGeom prst="roundRect">
            <a:avLst>
              <a:gd fmla="val 4103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7589520" y="484632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SỐ LIỆU THẬT TỪ ẢNH CHỤP TRÊN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7589520" y="51663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305.26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7589520" y="547725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Previous Close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9555480" y="51663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35.08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9555480" y="547725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PE Ratio (TTM)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7589520" y="578815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1.086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7589520" y="60990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Beta (5Y)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9555480" y="578815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4.46T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9555480" y="60990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Market Cap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TÍNH NĂNG CHÍNH · 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tích kỹ thuật &amp; Backtest chiến lược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48640" y="1463040"/>
            <a:ext cx="53492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Calibri"/>
              <a:buNone/>
            </a:pPr>
            <a:r>
              <a:rPr b="0" i="0" lang="en-US" sz="16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📉</a:t>
            </a:r>
            <a:endParaRPr b="0" i="0" sz="1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1554480" y="1755648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RSI (14)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22960" y="2423160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Chỉ báo động lượng 0–100. Trên 70: quá mua; dưới 30: quá bán.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263640" y="1463040"/>
            <a:ext cx="53492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6537960" y="1737360"/>
            <a:ext cx="548640" cy="548640"/>
          </a:xfrm>
          <a:prstGeom prst="ellipse">
            <a:avLst/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6537960" y="1737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Calibri"/>
              <a:buNone/>
            </a:pPr>
            <a:r>
              <a:rPr b="0" i="0" lang="en-US" sz="16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7269480" y="1755648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537960" y="2423160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Đường MACD, đường tín hiệu &amp; histogram — xác định xu hướng.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48640" y="3337560"/>
            <a:ext cx="53492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822960" y="3611880"/>
            <a:ext cx="548640" cy="548640"/>
          </a:xfrm>
          <a:prstGeom prst="ellipse">
            <a:avLst/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822960" y="3611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Calibri"/>
              <a:buNone/>
            </a:pPr>
            <a:r>
              <a:rPr b="0" i="0" lang="en-US" sz="16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〰️</a:t>
            </a:r>
            <a:endParaRPr b="0" i="0" sz="1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554480" y="3630168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Bollinger Bands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22960" y="4297680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Dải trên/dưới theo độ lệch chuẩn quanh SMA 20 ngày.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263640" y="3337560"/>
            <a:ext cx="53492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6537960" y="3611880"/>
            <a:ext cx="548640" cy="548640"/>
          </a:xfrm>
          <a:prstGeom prst="ellipse">
            <a:avLst/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6537960" y="3611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Calibri"/>
              <a:buNone/>
            </a:pPr>
            <a:r>
              <a:rPr b="0" i="0" lang="en-US" sz="16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🧪</a:t>
            </a:r>
            <a:endParaRPr b="0" i="0" sz="1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269480" y="3630168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Backtest SMA Crossover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537960" y="4297680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Mua khi SMA nhanh &gt; SMA chậm — so sánh với Mua &amp; Giữ, có Max Drawdown.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548640" y="56235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Lưu ý: backtest không tính phí giao dịch/trượt giá — chỉ mang tính minh hoạ học tập, không phải khuyến nghị đầu tư.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TÍNH NĂNG CHÍNH · 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Danh mục đầu tư — CAPM &amp; APT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48640" y="1371600"/>
            <a:ext cx="5394960" cy="4937760"/>
          </a:xfrm>
          <a:prstGeom prst="roundRect">
            <a:avLst>
              <a:gd fmla="val 1481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822960" y="19202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Capital Asset Pricing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822960" y="2286000"/>
            <a:ext cx="4846320" cy="777240"/>
          </a:xfrm>
          <a:prstGeom prst="roundRect">
            <a:avLst>
              <a:gd fmla="val 9412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822960" y="2286000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Times New Roman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E(Ri) = Rf + βi × [E(Rm) − Rf]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822960" y="3200400"/>
            <a:ext cx="484632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Hồi quy lợi suất từng tài sản theo lợi suất benchmark (S&amp;P500 / VNINDEX)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Beta β: đo mức biến động so với thị trường (β&gt;1: biến động mạnh hơn)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Vẽ đường thị trường chứng khoán (SML) minh hoạ trực quan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217920" y="1371600"/>
            <a:ext cx="5394960" cy="4937760"/>
          </a:xfrm>
          <a:prstGeom prst="roundRect">
            <a:avLst>
              <a:gd fmla="val 1481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492240" y="19202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Arbitrage Pricing Theory (đa nhân tố)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492240" y="2286000"/>
            <a:ext cx="4846320" cy="777240"/>
          </a:xfrm>
          <a:prstGeom prst="roundRect">
            <a:avLst>
              <a:gd fmla="val 9412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6492240" y="2286000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Times New Roman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E(Ri) = Rf + Σ βik × λk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492240" y="3200400"/>
            <a:ext cx="484632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Nhân tố rủi ro quan sát được: thị trường, giá dầu, giá vàng, chỉ số USD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Hồi quy đa biến (OLS) ước tính beta theo từng nhân tố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Bản đơn giản hoá — không dùng bộ nhân tố Fama-French đầy đủ (thiếu dữ liệu VN)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TÍNH NĂNG CHÍNH · 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hoá danh mục &amp; Monte Carlo Simulation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1" name="Google Shape;211;p8"/>
          <p:cNvGraphicFramePr/>
          <p:nvPr/>
        </p:nvGraphicFramePr>
        <p:xfrm>
          <a:off x="548640" y="1371600"/>
          <a:ext cx="5486400" cy="31089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12" name="Google Shape;212;p8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Số liệu minh hoạ cho hình dạng đường biên — không phải kết quả tính toán thật.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355080" y="1371600"/>
            <a:ext cx="502920" cy="502920"/>
          </a:xfrm>
          <a:prstGeom prst="ellipse">
            <a:avLst/>
          </a:prstGeom>
          <a:solidFill>
            <a:srgbClr val="5B9BD5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6355080" y="1371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7040880" y="134416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hoá Markowitz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7040880" y="161848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Danh mục Min Variance &amp; Max Sharpe, không bán khống (scipy.optimize)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355080" y="2240280"/>
            <a:ext cx="502920" cy="502920"/>
          </a:xfrm>
          <a:prstGeom prst="ellipse">
            <a:avLst/>
          </a:prstGeom>
          <a:solidFill>
            <a:srgbClr val="3FB68B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6355080" y="2240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🎲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7040880" y="221284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Monte Carlo Simulation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7040880" y="248716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Mô phỏng tương quan bằng phân rã Cholesky trên ma trận hiệp phương sai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6355080" y="3108960"/>
            <a:ext cx="502920" cy="502920"/>
          </a:xfrm>
          <a:prstGeom prst="ellipse">
            <a:avLst/>
          </a:prstGeom>
          <a:solidFill>
            <a:srgbClr val="E0654F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6355080" y="3108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📉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7040880" y="308152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&amp; CVaR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7040880" y="335584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Value at Risk và Conditional VaR tại các mức tin cậy 90/95/99%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6355080" y="3977640"/>
            <a:ext cx="502920" cy="502920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6355080" y="3977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📐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7040880" y="395020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Rủi ro nâng cao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7040880" y="422452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Max Drawdown, Sortino Ratio, Calmar Ratio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TÍNH NĂNG CHÍNH · 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Chatbot — Trợ lý đầu tư thông minh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548640" y="1417320"/>
            <a:ext cx="5577840" cy="4846320"/>
          </a:xfrm>
          <a:prstGeom prst="roundRect">
            <a:avLst>
              <a:gd fmla="val 1509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7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💬  Anthropic Claude API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822960" y="2194560"/>
            <a:ext cx="50292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Người dùng tự nhập API key — không hard-code trong mã nguồn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Ngữ cảnh tự động: mã vừa xem ở Đánh Giá Tài Sản + số liệu danh mục vừa phân tích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Người dùng có thể bật/tắt từng phần ngữ cảnh trước khi hỏi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Tóm tắt tin tức bằng AI: đánh giá tác động tích cực/tiêu cực/trung lập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AEB9C7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Luôn nhắc rõ: không phải lời khuyên đầu tư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400800" y="1417320"/>
            <a:ext cx="5303520" cy="4846320"/>
          </a:xfrm>
          <a:prstGeom prst="roundRect">
            <a:avLst>
              <a:gd fmla="val 1509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6675120" y="16002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Minh hoạ hội thoại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6675120" y="1965960"/>
            <a:ext cx="3291840" cy="640080"/>
          </a:xfrm>
          <a:prstGeom prst="roundRect">
            <a:avLst>
              <a:gd fmla="val 11429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6812280" y="201168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AAPL đang có beta 1.2, độ biến động cao hơn thị trường một chút.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8138160" y="2743200"/>
            <a:ext cx="3291840" cy="777240"/>
          </a:xfrm>
          <a:prstGeom prst="roundRect">
            <a:avLst>
              <a:gd fmla="val 9412" name="adj"/>
            </a:avLst>
          </a:prstGeom>
          <a:solidFill>
            <a:srgbClr val="D4AF37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8275320" y="278892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1622"/>
                </a:solidFill>
                <a:latin typeface="Calibri"/>
                <a:ea typeface="Calibri"/>
                <a:cs typeface="Calibri"/>
                <a:sym typeface="Calibri"/>
              </a:rPr>
              <a:t>Vậy có nên đưa AAPL vào danh mục không?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6675120" y="3657600"/>
            <a:ext cx="4023360" cy="1371600"/>
          </a:xfrm>
          <a:prstGeom prst="roundRect">
            <a:avLst>
              <a:gd fmla="val 5333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6812280" y="3749040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Tuỳ khẩu vị rủi ro của bạn — beta 1.2 nghĩa là biến động mạnh hơn thị trường ~20%. Nếu danh mục đã có nhiều tài sản biến động cao, nên cân nhắc tỉ trọng vừa phải. (Không phải lời khuyên đầu tư.)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TÍNH NĂNG CHÍNH · 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Trang chủ — Tổng quan &amp; Đề xuất AI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5B9BD5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1234440" y="1435608"/>
            <a:ext cx="10195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Tỉ trọng danh mục hiện tại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1234440" y="1709928"/>
            <a:ext cx="10195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Biểu đồ tròn + Lợi suất kỳ vọng, Sharpe, Max Drawdown — lấy từ lần phân tích gần nhất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234440" y="2487168"/>
            <a:ext cx="10195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Đánh giá AI theo từng mã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1234440" y="2761488"/>
            <a:ext cx="10195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Claude phân tích tỉ trọng/biến động/beta → gắn nhãn An toàn / Cân nhắc / Rủi ro cao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3FB68B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548640" y="3566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📰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1234440" y="3538728"/>
            <a:ext cx="10195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 tức quan trọng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1234440" y="3813048"/>
            <a:ext cx="10195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Gộp tin từ các mã trong danh mục, kèm banner chạy chữ tin vĩ mô ở đầu mỗi trang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E0654F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0"/>
              <a:buFont typeface="Calibri"/>
              <a:buNone/>
            </a:pPr>
            <a:r>
              <a:rPr b="0" i="0" lang="en-US" sz="15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💹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1234440" y="4590288"/>
            <a:ext cx="10195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Giá Top 10 real-time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1234440" y="4864608"/>
            <a:ext cx="10195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Crypto &amp; CP Thế giới tự làm mới 30s; CP Việt Nam 90s (giới hạn tốc độ API)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48640" y="5623560"/>
            <a:ext cx="10881360" cy="685800"/>
          </a:xfrm>
          <a:prstGeom prst="roundRect">
            <a:avLst>
              <a:gd fmla="val 10667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822960" y="5623560"/>
            <a:ext cx="10332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🟢 An toàn     🟡 Cân nhắc     🔴 Rủi ro cao   —   nhãn đánh giá AI hiển thị trực tiếp trên Trang chủ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TRIỂN KHAI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 nghệ sử dụng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548640" y="141732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685800" y="155448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🐍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685800" y="20756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imes New Roman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3.12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685800" y="23774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Ngôn ngữ nền tảng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3383280" y="141732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3520440" y="155448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🎈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3520440" y="20756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imes New Roman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3520440" y="23774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Framework giao diện (multipage, fragment, dialog)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6217920" y="141732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6355080" y="155448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6355080" y="20756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imes New Roman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yfinance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6355080" y="23774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Dữ liệu CP thế giới &amp; crypto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9052560" y="141732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9189720" y="155448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🇻🇳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9189720" y="20756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imes New Roman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vnstock v4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9189720" y="23774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Dữ liệu CP Việt Nam (VCI/KBS)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548640" y="324612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685800" y="338328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685800" y="39044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imes New Roman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Anthropic Claude API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685800" y="42062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Chatbot &amp; đánh giá AI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3383280" y="324612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3520440" y="338328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3520440" y="39044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imes New Roman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scipy · statsmodels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3520440" y="42062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Tối ưu hoá danh mục, hồi quy CAPM/APT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6217920" y="324612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6355080" y="338328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6355080" y="39044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imes New Roman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Plotly · Matplotlib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6355080" y="42062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Biểu đồ tương tác &amp; xuất PDF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9052560" y="324612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9189720" y="338328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☁️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9189720" y="39044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imes New Roman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 Community Cloud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9189720" y="42062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Triển khai trực tiếp từ GitHub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548640" y="598932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Repo: github.com/cisvo/aiaam    ·    Demo: voduyhuyhoang.streamlit.app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MÃ NGUỒN MINH HOẠ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Code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fmla="val 1509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822960" y="15087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portfolio_analytics.py — Hồi quy CAPM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822960" y="1874520"/>
            <a:ext cx="49377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def capm_analysis(asset_returns,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market_returns, rf_annual):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rf_daily = rf_annual / 252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df = pd.concat(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[asset_returns, market_returns],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axis=1).dropna()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df.columns = ["asset", "market"]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y = df["asset"] - rf_daily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X = sm.add_constant(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df["market"] - rf_daily)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model = sm.OLS(y, X).fit()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beta = model.params.iloc[1]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mkt_premium = (df["market"].mean()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* 252 - rf_annual)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expected_return = (rf_annual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+ beta * mkt_premium)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beta, expected_return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6172200" y="1371600"/>
            <a:ext cx="5440680" cy="4846320"/>
          </a:xfrm>
          <a:prstGeom prst="roundRect">
            <a:avLst>
              <a:gd fmla="val 1509" name="adj"/>
            </a:avLst>
          </a:prstGeom>
          <a:solidFill>
            <a:srgbClr val="0A1622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6446520" y="15087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portfolio_analytics.py — Monte Carlo (Cholesky)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6446520" y="1874520"/>
            <a:ext cx="49377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def monte_carlo_portfolio(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returns_df, weights,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n_sims, horizon_days,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initial_value):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mean = returns_df.mean().values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cov = returns_df.cov().values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L = np.linalg.cholesky(cov)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paths = np.zeros(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(n_sims, horizon_days))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for i in range(n_sims):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z = rng.standard_normal(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(horizon_days, len(weights)))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shocks = z @ L.T + mean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growth = np.cumprod(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1 + shocks, axis=0)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paths[i] = (initial_value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 (growth @ weights))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FE3FF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paths, paths[:, -1]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ĐÁNH GIÁ KHÁCH QUAN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Hạn chế &amp; Hướng phát triển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548640" y="1417320"/>
            <a:ext cx="5440680" cy="4846320"/>
          </a:xfrm>
          <a:prstGeom prst="roundRect">
            <a:avLst>
              <a:gd fmla="val 1509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654F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E065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⚠️  Hạn chế hiện tại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822960" y="2057400"/>
            <a:ext cx="49377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APT dùng nhân tố quan sát được (thị trường, dầu, vàng, USD) thay vì bộ Fama-French đầy đủ — thiếu dữ liệu miễn phí cho VN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Danh mục đa tiền tệ (VND + USD) quy đổi qua tỉ giá USD/VND theo ngày — vẫn là giả định đơn giản hoá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vnstock (gói khách) giới hạn ~20 request/phút — bảng giá CP Việt Nam có thể chậm hoặc thiếu dữ liệu khi tải cao điểm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DCF/Graham Number nhạy với giả định đầu vào — chỉ mang tính tham khảo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6172200" y="1417320"/>
            <a:ext cx="5440680" cy="4846320"/>
          </a:xfrm>
          <a:prstGeom prst="roundRect">
            <a:avLst>
              <a:gd fmla="val 1509" name="adj"/>
            </a:avLst>
          </a:prstGeom>
          <a:solidFill>
            <a:srgbClr val="16283E"/>
          </a:solidFill>
          <a:ln cap="flat" cmpd="sng" w="12700">
            <a:solidFill>
              <a:srgbClr val="2A3F5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6446520" y="16002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8B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3FB6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🚀  Hướng phát triển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6446520" y="2057400"/>
            <a:ext cx="49377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Tích hợp bộ nhân tố Fama-French thật nếu tìm được nguồn dữ liệu công khai cho VN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Backtest nhiều chiến lược hơn (RSI, MACD crossover) và có tính phí giao dịch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Rebalancing danh mục theo lịch định kỳ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AEB9C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Cache dữ liệu ra file/DB để giảm phụ thuộc vào giới hạn API khi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"/>
          <p:cNvSpPr/>
          <p:nvPr/>
        </p:nvSpPr>
        <p:spPr>
          <a:xfrm>
            <a:off x="4937760" y="2560320"/>
            <a:ext cx="18288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5138928" y="2633472"/>
            <a:ext cx="182880" cy="3840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5340096" y="2706624"/>
            <a:ext cx="182880" cy="31089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5541264" y="2798064"/>
            <a:ext cx="182880" cy="21945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imes New Roman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Cảm ơn thầy/cô đã theo dõi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FinDash-VN — Dashboard Thông Tin Đầu Tư Có Hỗ Trợ Chatbot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9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7"/>
                </a:solidFill>
                <a:latin typeface="Calibri"/>
                <a:ea typeface="Calibri"/>
                <a:cs typeface="Calibri"/>
                <a:sym typeface="Calibri"/>
              </a:rPr>
              <a:t>Demo trực tuyến: voduyhuyhoang.streamlit.app     ·     Mã nguồn: github.com/cisvo/aiaam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2026-08-15T14:01:05Z</dcterms:created>
  <dc:creator>PptxGenJS</dc:creator>
</cp:coreProperties>
</file>